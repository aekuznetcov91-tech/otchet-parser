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 xmlns:p="http://schemas.openxmlformats.org/presentationml/2006/main" xmlns:r="http://schemas.openxmlformats.org/officeDocument/2006/relationships">
  <p:cSld>
    <p:spTree>
      <p:nvGrpSpPr><p:cNvPr id="1" name=""/><p:cNvGrpSpPr/><p:nvPr/></p:nvPr></p:nvGrpSpPr>
      <p:grpSpPr><a:xfrm><a:off x="0" y="0"/><a:ext cx="0" cy="0"/><a:chOff x="0" y="0"/><a:chExt cx="0" cy="0"/></a:xfrm></p:grpSpPr>

      <!-- Header Banner -->
      <p:sp>
        <p:nvSpPr><p:cNvPr id="2" name="HeaderBg"/><p:cNvSpPr/><p:nvPr/></p:nvSpPr>
        <p:spPr>
          <a:xfrm><a:off x="457200" y="274320"/><a:ext cx="11277600" cy="822960"/></a:xfrm>
          <a:prstGeom prst="roundRect"><a:avLst><a:gd name="adj" fmla="val 8000"/></a:avLst></a:prstGeom>
          <a:solidFill><a:srgbClr val="0F172A"/></a:solidFill>
        </p:spPr>
        <p:txBody>
          <a:bodyPr lIns="228600" tIns="114300" rIns="228600" bIns="114300"/>
          <a:lstStyle/>
          <a:p><a:r><a:rPr lang="ru-RU" sz="2200" b="1"><a:solidFill><a:srgbClr val="FFFFFF"/></a:solidFill></a:rPr><a:t>Воронка пути клиента JETOUR с развилкой каналов</a:t></a:r></a:p>
          <a:p><a:r><a:rPr lang="ru-RU" sz="1150"><a:solidFill><a:srgbClr val="94A3B8"/></a:solidFill></a:rPr><a:t>Период: Август 2026 г. | Без учета МП2 | Развилка: Ветка ДЦ vs Ветка ФДЦ | Итог сделок</a:t></a:r></a:p>
        </p:txBody>
      </p:sp>

      <!-- Column 1: Общая часть воронки (1-10 этапы) -->
      <p:sp>
        <p:nvSpPr><p:cNvPr id="3" name="CommonFunnelBg"/><p:cNvSpPr/><p:nvPr/></p:nvSpPr>
        <p:spPr>
          <a:xfrm><a:off x="457200" y="1188720"/><a:ext cx="3700000" cy="5300000"/></a:xfrm>
          <a:prstGeom prst="roundRect"><a:avLst><a:gd name="adj" fmla="val 6000"/></a:avLst></a:prstGeom>
          <a:solidFill><a:srgbClr val="F8FAFC"/></a:solidFill>
          <a:ln w="19050"><a:solidFill><a:srgbClr val="CBD5E1"/></a:solidFill></a:ln>
        </p:spPr>
        <p:txBody>
          <a:bodyPr lIns="160000" tIns="140000" rIns="160000" bIns="140000"/>
          <a:lstStyle/>
          <a:p><a:r><a:rPr lang="ru-RU" sz="1300" b="1"><a:solidFill><a:srgbClr val="2563EB"/></a:solidFill></a:rPr><a:t>ЭТАПЫ 1-10: ВИТРИНА ➔ ОФФЕР</a:t></a:r></a:p>
          <a:p><a:pPr spaceBefore="50000"/><a:r><a:rPr lang="ru-RU" sz="1050" b="1"><a:solidFill><a:srgbClr val="1E293B"/></a:solidFill></a:rPr><a:t>1. Листинг:</a:t></a:r><a:r><a:rPr lang="ru-RU" sz="1050"><a:solidFill><a:srgbClr val="1E293B"/></a:solidFill></a:rPr><a:t> 191 607 чел.</a:t></a:r></a:p>
          <a:p><a:r><a:rPr lang="ru-RU" sz="1050" b="1"><a:solidFill><a:srgbClr val="1E293B"/></a:solidFill></a:rPr><a:t>2. Карточка авто:</a:t></a:r><a:r><a:rPr lang="ru-RU" sz="1050"><a:solidFill><a:srgbClr val="1E293B"/></a:solidFill></a:rPr><a:t> 28 919 (15.1%)</a:t></a:r></a:p>
          <a:p><a:r><a:rPr lang="ru-RU" sz="1050" b="1"><a:solidFill><a:srgbClr val="1E293B"/></a:solidFill></a:rPr><a:t>3. Клик на заявку:</a:t></a:r><a:r><a:rPr lang="ru-RU" sz="1050"><a:solidFill><a:srgbClr val="1E293B"/></a:solidFill></a:rPr><a:t> 3 706 (12.8%)</a:t></a:r></a:p>
          <a:p><a:r><a:rPr lang="ru-RU" sz="1050" b="1"><a:solidFill><a:srgbClr val="1E293B"/></a:solidFill></a:rPr><a:t>4. Экран шагов:</a:t></a:r><a:r><a:rPr lang="ru-RU" sz="1050"><a:solidFill><a:srgbClr val="1E293B"/></a:solidFill></a:rPr><a:t> 3 626 (97.8%)</a:t></a:r></a:p>
          <a:p><a:r><a:rPr lang="ru-RU" sz="1050" b="1"><a:solidFill><a:srgbClr val="1E293B"/></a:solidFill></a:rPr><a:t>5. Отправка формы:</a:t></a:r><a:r><a:rPr lang="ru-RU" sz="1050"><a:solidFill><a:srgbClr val="1E293B"/></a:solidFill></a:rPr><a:t> 2 324 (64.1%)</a:t></a:r></a:p>
          <a:p><a:r><a:rPr lang="ru-RU" sz="1050" b="1"><a:solidFill><a:srgbClr val="1E293B"/></a:solidFill></a:rPr><a:t>6. Экран успеха:</a:t></a:r><a:r><a:rPr lang="ru-RU" sz="1050"><a:solidFill><a:srgbClr val="1E293B"/></a:solidFill></a:rPr><a:t> 2 269 чел.</a:t></a:r></a:p>
          <a:p><a:r><a:rPr lang="ru-RU" sz="1050" b="1"><a:solidFill><a:srgbClr val="1E293B"/></a:solidFill></a:rPr><a:t>7. Новый лид в CRM:</a:t></a:r><a:r><a:rPr lang="ru-RU" sz="1050"><a:solidFill><a:srgbClr val="1E293B"/></a:solidFill></a:rPr><a:t> 1 409 лидов</a:t></a:r></a:p>
          <a:p><a:r><a:rPr lang="ru-RU" sz="1050" b="1"><a:solidFill><a:srgbClr val="1E293B"/></a:solidFill></a:rPr><a:t>8. Квалификация:</a:t></a:r><a:r><a:rPr lang="ru-RU" sz="1050"><a:solidFill><a:srgbClr val="1E293B"/></a:solidFill></a:rPr><a:t> 1 391 лид (98.7%)</a:t></a:r></a:p>
          <a:p><a:r><a:rPr lang="ru-RU" sz="1050" b="1"><a:solidFill><a:srgbClr val="1E293B"/></a:solidFill></a:rPr><a:t>9. Расчет кредита:</a:t></a:r><a:r><a:rPr lang="ru-RU" sz="1050"><a:solidFill><a:srgbClr val="1E293B"/></a:solidFill></a:rPr><a:t> 732 чел. (1 150 расчетов)</a:t></a:r></a:p>
          <a:p><a:pPr spaceBefore="40000"/><a:r><a:rPr lang="ru-RU" sz="1150" b="1"><a:solidFill><a:srgbClr val="D97706"/></a:solidFill></a:rPr><a:t>10. ОФФЕР ОТПРАВЛЕН: 558 чел.</a:t></a:r></a:p>
          <a:p><a:r><a:rPr lang="ru-RU" sz="950"><a:solidFill><a:srgbClr val="64748B"/></a:solidFill></a:rPr><a:t>(76.2% CR от расчета | 963 оффера)</a:t></a:r></a:p>
        </p:txBody>
      </p:sp>

      <!-- Column 2: РАЗВИЛКА НА 2 СЦЕНАРИЯ -->
      <p:sp>
        <p:nvSpPr><p:cNvPr id="4" name="BranchBg"/><p:cNvSpPr/><p:nvPr/></p:nvSpPr>
        <p:spPr>
          <a:xfrm><a:off x="4300000" y="1188720"/><a:ext cx="3700000" cy="5300000"/></a:xfrm>
          <a:prstGeom prst="roundRect"><a:avLst><a:gd name="adj" fmla="val 6000"/></a:avLst></a:prstGeom>
          <a:solidFill><a:srgbClr val="F8FAFC"/></a:solidFill>
          <a:ln w="19050"><a:solidFill><a:srgbClr val="CBD5E1"/></a:solidFill></a:ln>
        </p:spPr>
        <p:txBody>
          <a:bodyPr lIns="160000" tIns="140000" rIns="160000" bIns="140000"/>
          <a:lstStyle/>
          <a:p><a:r><a:rPr lang="ru-RU" sz="1300" b="1"><a:solidFill><a:srgbClr val="D97706"/></a:solidFill></a:rPr><a:t>РАЗВИЛКА ПОСЛЕ 10 ЭТАПА</a:t></a:r></a:p>
          
          <a:p><a:pPr spaceBefore="60000"/><a:r><a:rPr lang="ru-RU" sz="1150" b="1"><a:solidFill><a:srgbClr val="2563EB"/></a:solidFill></a:rPr><a:t>ВАР 1. ДИЛЕРСКИЙ КАНАЛ (ДЦ):</a:t></a:r></a:p>
          <a:p><a:r><a:rPr lang="ru-RU" sz="1050" b="1"><a:solidFill><a:srgbClr val="1E293B"/></a:solidFill></a:rPr><a:t>• Передан в ДЦ:</a:t></a:r><a:r><a:rPr lang="ru-RU" sz="1050"><a:solidFill><a:srgbClr val="1E293B"/></a:solidFill></a:rPr><a:t> 246 чел.</a:t></a:r></a:p>
          <a:p><a:r><a:rPr lang="ru-RU" sz="950"><a:solidFill><a:srgbClr val="64748B"/></a:solidFill></a:rPr><a:t>  (CR от офферов: 44.1%)</a:t></a:r></a:p>
          <a:p><a:r><a:rPr lang="ru-RU" sz="1050" b="1"><a:solidFill><a:srgbClr val="059669"/></a:solidFill></a:rPr><a:t>➔ Сделки после передачи лида:</a:t></a:r><a:r><a:rPr lang="ru-RU" sz="1050" b="1"><a:solidFill><a:srgbClr val="059669"/></a:solidFill></a:rPr><a:t> 21 шт.</a:t></a:r></a:p>
          <a:p><a:r><a:rPr lang="ru-RU" sz="950"><a:solidFill><a:srgbClr val="059669"/></a:solidFill></a:rPr><a:t>  (Выручка: 881 359 ₽)</a:t></a:r></a:p>

          <a:p><a:pPr spaceBefore="100000"/><a:r><a:rPr lang="ru-RU" sz="1150" b="1"><a:solidFill><a:srgbClr val="7C3AED"/></a:solidFill></a:rPr><a:t>ВАР 2. ОНЛАЙН-КРЕДИТ (ФДЦ):</a:t></a:r></a:p>
          <a:p><a:r><a:rPr lang="ru-RU" sz="1050" b="1"><a:solidFill><a:srgbClr val="1E293B"/></a:solidFill></a:rPr><a:t>• Подана заявка ФДЦ:</a:t></a:r><a:r><a:rPr lang="ru-RU" sz="1050"><a:solidFill><a:srgbClr val="1E293B"/></a:solidFill></a:rPr><a:t> 177 чел.</a:t></a:r></a:p>
          <a:p><a:r><a:rPr lang="ru-RU" sz="950"><a:solidFill><a:srgbClr val="64748B"/></a:solidFill></a:rPr><a:t>  (CR от офферов: 31.7%)</a:t></a:r></a:p>
          <a:p><a:r><a:rPr lang="ru-RU" sz="1050" b="1"><a:solidFill><a:srgbClr val="1E293B"/></a:solidFill></a:rPr><a:t>• Одобрение ФДЦ:</a:t></a:r><a:r><a:rPr lang="ru-RU" sz="1050"><a:solidFill><a:srgbClr val="1E293B"/></a:solidFill></a:rPr><a:t> 100 чел.</a:t></a:r></a:p>
          <a:p><a:r><a:rPr lang="ru-RU" sz="950"><a:solidFill><a:srgbClr val="64748B"/></a:solidFill></a:rPr><a:t>  (CR от заявок: 56.5%)</a:t></a:r></a:p>
          <a:p><a:r><a:rPr lang="ru-RU" sz="1050" b="1"><a:solidFill><a:srgbClr val="059669"/></a:solidFill></a:rPr><a:t>➔ Сделки ФДЦ (Выдачи):</a:t></a:r><a:r><a:rPr lang="ru-RU" sz="1050" b="1"><a:solidFill><a:srgbClr val="059669"/></a:solidFill></a:rPr><a:t> 49 шт.</a:t></a:r></a:p>
          <a:p><a:r><a:rPr lang="ru-RU" sz="950"><a:solidFill><a:srgbClr val="059669"/></a:solidFill></a:rPr><a:t>  (Выручка: 2 201 817 ₽)</a:t></a:r></a:p>
        </p:txBody>
      </p:sp>

      <!-- Column 3: ИТОГОВЫЙ СРЕЗ СДЕЛОК (БЕЗ МП2) -->
      <p:sp>
        <p:nvSpPr><p:cNvPr id="5" name="DealsSummaryBg"/><p:cNvSpPr/><p:nvPr/></p:nvSpPr>
        <p:spPr>
          <a:xfrm><a:off x="8142800" y="1188720"/><a:ext cx="3592000" cy="5300000"/></a:xfrm>
          <a:prstGeom prst="roundRect"><a:avLst><a:gd name="adj" fmla="val 6000"/></a:avLst></a:prstGeom>
          <a:solidFill><a:srgbClr val="F8FAFC"/></a:solidFill>
          <a:ln w="19050"><a:solidFill><a:srgbClr val="CBD5E1"/></a:solidFill></a:ln>
        </p:spPr>
        <p:txBody>
          <a:bodyPr lIns="160000" tIns="140000" rIns="160000" bIns="140000"/>
          <a:lstStyle/>
          <a:p><a:r><a:rPr lang="ru-RU" sz="1300" b="1"><a:solidFill><a:srgbClr val="059669"/></a:solidFill></a:rPr><a:t>ИТОГ СДЕЛОК (БЕЗ МП2)</a:t></a:r></a:p>
          
          <a:p><a:pPr spaceBefore="50000"/><a:r><a:rPr lang="ru-RU" sz="1700" b="1"><a:solidFill><a:srgbClr val="059669"/></a:solidFill></a:rPr><a:t>122 сделки</a:t></a:r></a:p>
          <a:p><a:r><a:rPr lang="ru-RU" sz="1300" b="1"><a:solidFill><a:srgbClr val="0F172A"/></a:solidFill></a:rPr><a:t>💰 5 267 000 ₽ выручки</a:t></a:r></a:p>

          <a:p><a:pPr spaceBefore="90000"/><a:r><a:rPr lang="ru-RU" sz="1100" b="1"><a:solidFill><a:srgbClr val="1E293B"/></a:solidFill></a:rPr><a:t>Структура сделок:</a:t></a:r></a:p>
          <a:p><a:r><a:rPr lang="ru-RU" sz="1000"><a:solidFill><a:srgbClr val="334155"/></a:solidFill></a:rPr><a:t>• ФДЦ (онлайн-кредит): </a:t></a:r><a:r><a:rPr lang="ru-RU" sz="1000" b="1"><a:solidFill><a:srgbClr val="059669"/></a:solidFill></a:rPr><a:t>49 шт. (40.2%)</a:t></a:r></a:p>
          <a:p><a:r><a:rPr lang="ru-RU" sz="1000"><a:solidFill><a:srgbClr val="334155"/></a:solidFill></a:rPr><a:t>• Передача лида в ДЦ: </a:t></a:r><a:r><a:rPr lang="ru-RU" sz="1000" b="1"><a:solidFill><a:srgbClr val="2563EB"/></a:solidFill></a:rPr><a:t>21 шт. (17.2%)</a:t></a:r></a:p>
          <a:p><a:r><a:rPr lang="ru-RU" sz="1000"><a:solidFill><a:srgbClr val="334155"/></a:solidFill></a:rPr><a:t>• Сделки Online: </a:t></a:r><a:r><a:rPr lang="ru-RU" sz="1000" b="1"><a:solidFill><a:srgbClr val="334155"/></a:solidFill></a:rPr><a:t>29 шт. (23.8%)</a:t></a:r></a:p>
          <a:p><a:r><a:rPr lang="ru-RU" sz="1000"><a:solidFill><a:srgbClr val="334155"/></a:solidFill></a:rPr><a:t>• Другие (МП1 + МП3): </a:t></a:r><a:r><a:rPr lang="ru-RU" sz="1000" b="1"><a:solidFill><a:srgbClr val="334155"/></a:solidFill></a:rPr><a:t>23 шт. (18.8%)</a:t></a:r></a:p>

          <a:p><a:pPr spaceBefore="90000"/><a:r><a:rPr lang="ru-RU" sz="950" i="1"><a:solidFill><a:srgbClr val="64748B"/></a:solidFill></a:rPr><a:t>* Исключено 437 сделок МП2 (16.96 млн ₽)</a:t></a:r></a:p>
        </p:txBody>
      </p:sp>

    </p:spTree>
  </p:cSld>
</p:sld>
</file>

<file path=ppt/slides/slide2.xml><?xml version="1.0" encoding="UTF-8" standalone="yes"?>
<p:sld xmlns:a="http://schemas.openxmlformats.org/drawingml/2006/main" xmlns:p="http://schemas.openxmlformats.org/presentationml/2006/main" xmlns:r="http://schemas.openxmlformats.org/officeDocument/2006/relationships">
  <p:cSld>
    <p:spTree>
      <p:nvGrpSpPr><p:cNvPr id="1" name=""/><p:cNvGrpSpPr/><p:nvPr/></p:nvPr></p:nvGrpSpPr>
      <p:grpSpPr><a:xfrm><a:off x="0" y="0"/><a:ext cx="0" cy="0"/><a:chOff x="0" y="0"/><a:chExt cx="0" cy="0"/></a:xfrm></p:grpSpPr>

      <!-- Header Banner -->
      <p:sp>
        <p:nvSpPr><p:cNvPr id="2" name="HeaderBg2"/><p:cNvSpPr/><p:nvPr/></p:nvSpPr>
        <p:spPr>
          <a:xfrm><a:off x="457200" y="274320"/><a:ext cx="11277600" cy="822960"/></a:xfrm>
          <a:prstGeom prst="roundRect"><a:avLst><a:gd name="adj" fmla="val 8000"/></a:avLst></a:prstGeom>
          <a:solidFill><a:srgbClr val="0F172A"/></a:solidFill>
        </p:spPr>
        <p:txBody>
          <a:bodyPr lIns="228600" tIns="114300" rIns="228600" bIns="114300"/>
          <a:lstStyle/>
          <a:p><a:r><a:rPr lang="ru-RU" sz="2200" b="1"><a:solidFill><a:srgbClr val="FFFFFF"/></a:solidFill></a:rPr><a:t>Факторный анализ: Узкие места и Точки роста</a:t></a:r></a:p>
          <a:p><a:r><a:rPr lang="ru-RU" sz="1150"><a:solidFill><a:srgbClr val="94A3B8"/></a:solidFill></a:rPr><a:t>Анализ конверсий по веткам ДЦ и ФДЦ | Мероприятия по масштабированию</a:t></a:r></a:p>
        </p:txBody>
      </p:sp>

      <!-- Left Column: Bottlenecks -->
      <p:sp>
        <p:nvSpPr><p:cNvPr id="3" name="BottlenecksCard"/><p:cNvSpPr/><p:nvPr/></p:nvSpPr>
        <p:spPr>
          <a:xfrm><a:off x="457200" y="1188720"/><a:ext cx="5486400" cy="5300000"/></a:xfrm>
          <a:prstGeom prst="roundRect"><a:avLst><a:gd name="adj" fmla="val 6000"/></a:avLst></a:prstGeom>
          <a:solidFill><a:srgbClr val="FEF2F2"/></a:solidFill>
          <a:ln w="19050"><a:solidFill><a:srgbClr val="FECACA"/></a:solidFill></a:ln>
        </p:spPr>
        <p:txBody>
          <a:bodyPr lIns="180000" tIns="160000" rIns="180000" bIns="160000"/>
          <a:lstStyle/>
          <a:p><a:r><a:rPr lang="ru-RU" sz="1500" b="1"><a:solidFill><a:srgbClr val="DC2626"/></a:solidFill></a:rPr><a:t>⚠️ КЛЮЧЕВЫЕ ПОТЕРИ И БОТТЛНЕКИ</a:t></a:r></a:p>
          
          <a:p><a:pPr spaceBefore="100000"/><a:r><a:rPr lang="ru-RU" sz="1250" b="1"><a:solidFill><a:srgbClr val="991B1B"/></a:solidFill></a:rPr><a:t>1. Витрина: Листинг ➔ Карточка (CR 15.1%)</a:t></a:r></a:p>
          <a:p><a:r><a:rPr lang="ru-RU" sz="1050"><a:solidFill><a:srgbClr val="374151"/></a:solidFill></a:rPr><a:t>• 84.9% (162 688 чел.) покидают каталог без перехода в карточку конкретного авто.</a:t></a:r></a:p>

          <a:p><a:pPr spaceBefore="80000"/><a:r><a:rPr lang="ru-RU" sz="1250" b="1"><a:solidFill><a:srgbClr val="991B1B"/></a:solidFill></a:rPr><a:t>2. Анкета: Экран шагов ➔ Отправка (CR 64.1%)</a:t></a:r></a:p>
          <a:p><a:r><a:rPr lang="ru-RU" sz="1050"><a:solidFill><a:srgbClr val="374151"/></a:solidFill></a:rPr><a:t>• 35.9% клиентов (1 302 чел.) бросают процесс заполнения онлайн-заявки.</a:t></a:r></a:p>

          <a:p><a:pPr spaceBefore="80000"/><a:r><a:rPr lang="ru-RU" sz="1250" b="1"><a:solidFill><a:srgbClr val="991B1B"/></a:solidFill></a:rPr><a:t>3. Калькулятор ➔ Заявки в каналы</a:t></a:r></a:p>
          <a:p><a:r><a:rPr lang="ru-RU" sz="1050"><a:solidFill><a:srgbClr val="374151"/></a:solidFill></a:rPr><a:t>• 47.4% квалифицированных лидов не получают расчет кредита в калькуляторе.</a:t></a:r></a:p>
          <a:p><a:r><a:rPr lang="ru-RU" sz="1050"><a:solidFill><a:srgbClr val="374151"/></a:solidFill></a:rPr><a:t>• Ветка ДЦ конвертирует 44.1% офферов (246 чел.), ветка ФДЦ — 31.7% (177 заявок).</a:t></a:r></a:p>
        </p:txBody>
      </p:sp>

      <!-- Right Column: Action Plan -->
      <p:sp>
        <p:nvSpPr><p:cNvPr id="4" name="ActionPlanCard"/><p:cNvSpPr/><p:nvPr/></p:nvSpPr>
        <p:spPr>
          <a:xfrm><a:off x="6248400" y="1188720"/><a:ext cx="5486400" cy="5300000"/></a:xfrm>
          <a:prstGeom prst="roundRect"><a:avLst><a:gd name="adj" fmla="val 6000"/></a:avLst></a:prstGeom>
          <a:solidFill><a:srgbClr val="F0FDF4"/></a:solidFill>
          <a:ln w="19050"><a:solidFill><a:srgbClr val="BBF7D0"/></a:solidFill></a:ln>
        </p:spPr>
        <p:txBody>
          <a:bodyPr lIns="180000" tIns="160000" rIns="180000" bIns="160000"/>
          <a:lstStyle/>
          <a:p><a:r><a:rPr lang="ru-RU" sz="1500" b="1"><a:solidFill><a:srgbClr val="166534"/></a:solidFill></a:rPr><a:t>🚀 ТОЧКИ РОСТА И ПЛАН ДЕЙСТВИЙ</a:t></a:r></a:p>
          
          <a:p><a:pPr spaceBefore="100000"/><a:r><a:rPr lang="ru-RU" sz="1250" b="1"><a:solidFill><a:srgbClr val="15803D"/></a:solidFill></a:rPr><a:t>1. Оптимизация каталога и карточек</a:t></a:r></a:p>
          <a:p><a:r><a:rPr lang="ru-RU" sz="1050"><a:solidFill><a:srgbClr val="374151"/></a:solidFill></a:rPr><a:t>• Бейджи «Платеж от Х ₽/мес» ➔ рост переходов в карточки на +30% (~37k просмотров).</a:t></a:r></a:p>

          <a:p><a:pPr spaceBefore="80000"/><a:r><a:rPr lang="ru-RU" sz="1250" b="1"><a:solidFill><a:srgbClr val="15803D"/></a:solidFill></a:rPr><a:t>2. 1-Click подача через SberID</a:t></a:r></a:p>
          <a:p><a:r><a:rPr lang="ru-RU" sz="1050"><a:solidFill><a:srgbClr val="374151"/></a:solidFill></a:rPr><a:t>• Автозаполнение заявки ➔ рост CR шагов до 85% (+400-500 лидов в CRM).</a:t></a:r></a:p>

          <a:p><a:pPr spaceBefore="80000"/><a:r><a:rPr lang="ru-RU" sz="1250" b="1"><a:solidFill><a:srgbClr val="15803D"/></a:solidFill></a:rPr><a:t>3. Синхронизация веток ДЦ и ФДЦ</a:t></a:r></a:p>
          <a:p><a:r><a:rPr lang="ru-RU" sz="1050"><a:solidFill><a:srgbClr val="374151"/></a:solidFill></a:rPr><a:t>• Комбинирование оффера: одобрение ФДЦ перед визитом в ДЦ повышает доходимость до сделки в 1.8 раза.</a:t></a:r></a:p>

          <a:p><a:pPr spaceBefore="80000"/><a:r><a:rPr lang="ru-RU" sz="1250" b="1"><a:solidFill><a:srgbClr val="15803D"/></a:solidFill></a:rPr><a:t>4. Трекинг доходимости в ДЦ</a:t></a:r></a:p>
          <a:p><a:r><a:rPr lang="ru-RU" sz="1050"><a:solidFill><a:srgbClr val="374151"/></a:solidFill></a:rPr><a:t>• Автоматическая валидация визита в DMS ➔ рост конверсии передачи лида в закрытую сделку.</a:t></a:r></a:p>
        </p:txBody>
      </p:sp>
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